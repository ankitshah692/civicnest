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Under 18</c:v>
                </c:pt>
              </c:strCache>
            </c:strRef>
          </c:tx>
          <c:spPr>
            <a:solidFill>
              <a:srgbClr val="805AD5"/>
            </a:solidFill>
            <a:ln w="38100" cap="flat">
              <a:solidFill>
                <a:srgbClr val="805A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5AD5"/>
              </a:solidFill>
              <a:ln w="9525" cap="flat">
                <a:solidFill>
                  <a:srgbClr val="805A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2024</c:v>
                  </c:pt>
                  <c:pt idx="6">
                    <c:v>2030</c:v>
                  </c:pt>
                  <c:pt idx="7">
                    <c:v>2035</c:v>
                  </c:pt>
                  <c:pt idx="8">
                    <c:v>2040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73</c:v>
                </c:pt>
                <c:pt idx="2">
                  <c:v>74</c:v>
                </c:pt>
                <c:pt idx="3">
                  <c:v>74</c:v>
                </c:pt>
                <c:pt idx="4">
                  <c:v>74</c:v>
                </c:pt>
                <c:pt idx="5">
                  <c:v>75</c:v>
                </c:pt>
                <c:pt idx="6">
                  <c:v>76</c:v>
                </c:pt>
                <c:pt idx="7">
                  <c:v>76</c:v>
                </c:pt>
                <c:pt idx="8">
                  <c:v>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65+</c:v>
                </c:pt>
              </c:strCache>
            </c:strRef>
          </c:tx>
          <c:spPr>
            <a:solidFill>
              <a:srgbClr val="4299E1"/>
            </a:solidFill>
            <a:ln w="38100" cap="flat">
              <a:solidFill>
                <a:srgbClr val="4299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99E1"/>
              </a:solidFill>
              <a:ln w="9525" cap="flat">
                <a:solidFill>
                  <a:srgbClr val="4299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2024</c:v>
                  </c:pt>
                  <c:pt idx="6">
                    <c:v>2030</c:v>
                  </c:pt>
                  <c:pt idx="7">
                    <c:v>2035</c:v>
                  </c:pt>
                  <c:pt idx="8">
                    <c:v>2040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35</c:v>
                </c:pt>
                <c:pt idx="1">
                  <c:v>37</c:v>
                </c:pt>
                <c:pt idx="2">
                  <c:v>40</c:v>
                </c:pt>
                <c:pt idx="3">
                  <c:v>48</c:v>
                </c:pt>
                <c:pt idx="4">
                  <c:v>56</c:v>
                </c:pt>
                <c:pt idx="5">
                  <c:v>62</c:v>
                </c:pt>
                <c:pt idx="6">
                  <c:v>75</c:v>
                </c:pt>
                <c:pt idx="7">
                  <c:v>82</c:v>
                </c:pt>
                <c:pt idx="8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Population (in 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5750" y="1371600"/>
            <a:ext cx="952500" cy="952500"/>
          </a:xfrm>
          <a:prstGeom prst="roundRect">
            <a:avLst>
              <a:gd name="adj" fmla="val 96000"/>
            </a:avLst>
          </a:prstGeom>
          <a:noFill/>
          <a:ln w="38100">
            <a:solidFill>
              <a:srgbClr val="4299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6f093cb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1609725"/>
            <a:ext cx="476250" cy="476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32061" y="2667000"/>
            <a:ext cx="24797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178585" y="3505200"/>
            <a:ext cx="27868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the future with the past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88864"/>
            <a:ext cx="195281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entering a "Senior-First" era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8600" y="2051745"/>
            <a:ext cx="3040261" cy="115818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2185095"/>
            <a:ext cx="282903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61950" y="2809875"/>
            <a:ext cx="282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Americans will be 65+ by 2030.</a:t>
            </a:r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isn't a projection; it is a mathematical certainty. (Source: Census)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3324225"/>
            <a:ext cx="3040261" cy="430411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3419475"/>
            <a:ext cx="29067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 of MCI is not a temporary spike, but a long-term demographic shift linked to population growth. (Source: Alz)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459361" y="164753"/>
            <a:ext cx="5456039" cy="4813995"/>
          </a:xfrm>
          <a:prstGeom prst="roundRect">
            <a:avLst>
              <a:gd name="adj" fmla="val 15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92711" y="298103"/>
            <a:ext cx="52931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 in history, seniors will outnumber children.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92711" y="681930"/>
            <a:ext cx="152400" cy="28575"/>
          </a:xfrm>
          <a:prstGeom prst="rect">
            <a:avLst/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31184" y="681930"/>
            <a:ext cx="152400" cy="28575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592711" y="953393"/>
          <a:ext cx="5189339" cy="38920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0534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50"/>
              </a:spcAft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digital infrastructure excludes one in four citizens.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1 in 4 citizens are excluded due to cognitive barriers, our public policies will no longer reflect the reality of the people." (Sources: AARP 2023, Frontiers 2023)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28600" y="1137196"/>
            <a:ext cx="2793950" cy="917972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270546"/>
            <a:ext cx="25777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in Avoidable Costs: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61950" y="1628626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and system-navigation failures drive billions in avoidable healthcare costs. (Source: AARP)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174950" y="1137196"/>
            <a:ext cx="2793950" cy="917972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8300" y="1270546"/>
            <a:ext cx="25777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Silenced Generation: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08300" y="1628626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with cognitive decline become effectively silenced in public decision-making.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121301" y="1137196"/>
            <a:ext cx="2793950" cy="917972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4651" y="1270546"/>
            <a:ext cx="25777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Fading from Community Life: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254651" y="1628626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infrastructure isn't built for the demographic shift underway, pushing older adults to the margins.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042345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CivicNest: A bridge to inclusion, designed for how seniors think, move, and communicate.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8600" y="2209800"/>
            <a:ext cx="3040261" cy="659011"/>
          </a:xfrm>
          <a:prstGeom prst="roundRect">
            <a:avLst>
              <a:gd name="adj" fmla="val 11563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2324100"/>
            <a:ext cx="286789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Mission: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42900" y="2487811"/>
            <a:ext cx="28678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restore independence, civic voice, and social connection for those with cognitive decline.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2983111"/>
            <a:ext cx="3040261" cy="659011"/>
          </a:xfrm>
          <a:prstGeom prst="roundRect">
            <a:avLst>
              <a:gd name="adj" fmla="val 11563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3097411"/>
            <a:ext cx="286789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Statement: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42900" y="3261122"/>
            <a:ext cx="28678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by academic review (UT Austin) and built for real-world deployment.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68180" y="2049661"/>
            <a:ext cx="952500" cy="1905000"/>
          </a:xfrm>
          <a:prstGeom prst="roundRect">
            <a:avLst>
              <a:gd name="adj" fmla="val 16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06280" y="2087761"/>
            <a:ext cx="876300" cy="1828800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82480" y="2163961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82480" y="2289572"/>
            <a:ext cx="7383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Welcome!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082480" y="2447627"/>
            <a:ext cx="723900" cy="247650"/>
          </a:xfrm>
          <a:prstGeom prst="roundRect">
            <a:avLst>
              <a:gd name="adj" fmla="val 2307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82480" y="2723852"/>
            <a:ext cx="723900" cy="247650"/>
          </a:xfrm>
          <a:prstGeom prst="roundRect">
            <a:avLst>
              <a:gd name="adj" fmla="val 2307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82480" y="3000077"/>
            <a:ext cx="723900" cy="247650"/>
          </a:xfrm>
          <a:prstGeom prst="roundRect">
            <a:avLst>
              <a:gd name="adj" fmla="val 2307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82480" y="3276302"/>
            <a:ext cx="723900" cy="247650"/>
          </a:xfrm>
          <a:prstGeom prst="roundRect">
            <a:avLst>
              <a:gd name="adj" fmla="val 2307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3080" y="1821061"/>
            <a:ext cx="1333500" cy="1905000"/>
          </a:xfrm>
          <a:prstGeom prst="roundRect">
            <a:avLst>
              <a:gd name="adj" fmla="val 571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30230" y="1878211"/>
            <a:ext cx="1219200" cy="1790700"/>
          </a:xfrm>
          <a:prstGeom prst="roundRect">
            <a:avLst>
              <a:gd name="adj" fmla="val 312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5480" y="1973461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25480" y="2144911"/>
            <a:ext cx="10492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225480" y="2348657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5480" y="2672507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25480" y="2996357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25480" y="3320207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1705" y="3878461"/>
            <a:ext cx="476250" cy="95250"/>
          </a:xfrm>
          <a:prstGeom prst="rect">
            <a:avLst/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06455" y="4126111"/>
            <a:ext cx="666750" cy="571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120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50"/>
              </a:spcAft>
              <a:buNone/>
            </a:pPr>
            <a:r>
              <a:rPr lang="en-US" sz="1950" b="1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in the life: How Mrs. Alvarez found her voice.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Alvarez, 78, with early cognitive decline, walks into the library to report a broken streetlight. The CivicNest kiosk guides her with large buttons and a calm voice to submit the report in seconds. She leaves feeling informed, heard, and safer.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245965"/>
            <a:ext cx="2819400" cy="1642021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2245965"/>
            <a:ext cx="2819400" cy="36001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2601218"/>
            <a:ext cx="2819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3850" y="2341215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Approach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7800" y="2872680"/>
            <a:ext cx="381000" cy="571500"/>
          </a:xfrm>
          <a:prstGeom prst="roundRect">
            <a:avLst>
              <a:gd name="adj" fmla="val 10000"/>
            </a:avLst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02234" y="3653730"/>
            <a:ext cx="8894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approaches kiosk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162300" y="2315468"/>
            <a:ext cx="2819400" cy="1503015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62300" y="2315468"/>
            <a:ext cx="2819400" cy="36001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62300" y="2670721"/>
            <a:ext cx="2819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7550" y="2410718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Interact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1336" y="2942183"/>
            <a:ext cx="1101328" cy="76200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97536" y="3018383"/>
            <a:ext cx="455414" cy="28575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91050" y="3018383"/>
            <a:ext cx="455414" cy="28575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97536" y="3342233"/>
            <a:ext cx="455414" cy="28575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91050" y="3342233"/>
            <a:ext cx="455414" cy="28575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0" y="2406104"/>
            <a:ext cx="2819400" cy="1321891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6000" y="2406104"/>
            <a:ext cx="2819400" cy="36001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0" y="2761357"/>
            <a:ext cx="2819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1250" y="2501354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Empowered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4200" y="3032820"/>
            <a:ext cx="1143000" cy="580876"/>
          </a:xfrm>
          <a:prstGeom prst="roundRect">
            <a:avLst>
              <a:gd name="adj" fmla="val 9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38975" y="3137595"/>
            <a:ext cx="9521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Improvements Coming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7038975" y="3415605"/>
            <a:ext cx="95211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300"/>
              </a:spcBef>
              <a:buNone/>
            </a:pPr>
            <a:r>
              <a:rPr lang="en-US" sz="5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benches being installed.</a:t>
            </a:r>
            <a:endParaRPr lang="en-US" sz="5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6824" y="228600"/>
            <a:ext cx="511035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In: At home or in the community, access is always within reach.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1388864"/>
            <a:ext cx="4229100" cy="3165723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49747" y="1541264"/>
            <a:ext cx="161854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</a:t>
            </a:r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(Public Access)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1958132"/>
            <a:ext cx="571500" cy="857250"/>
          </a:xfrm>
          <a:prstGeom prst="roundRect">
            <a:avLst>
              <a:gd name="adj" fmla="val 666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3063032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139232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Session Auto-Clear: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Privacy in public spaces.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3405932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482132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Needed: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Fully anonymous walk-up.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3748832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825032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Support: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assistance.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733199" y="4282232"/>
            <a:ext cx="12199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Libraries, senior centers, clinics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86300" y="1436489"/>
            <a:ext cx="4229100" cy="3070473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73514" y="1588889"/>
            <a:ext cx="1687613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pPr algn="l" indent="0" marL="0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(Personal Access)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0350" y="2005757"/>
            <a:ext cx="381000" cy="762000"/>
          </a:xfrm>
          <a:prstGeom prst="roundRect">
            <a:avLst>
              <a:gd name="adj" fmla="val 2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8700" y="3015407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3091607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News: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Plain-language articles.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38700" y="3358307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3434507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Recaps: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Reinforces routine.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38700" y="3701207"/>
            <a:ext cx="3924300" cy="285750"/>
          </a:xfrm>
          <a:prstGeom prst="roundRect">
            <a:avLst>
              <a:gd name="adj" fmla="val 20000"/>
            </a:avLst>
          </a:prstGeom>
          <a:solidFill>
            <a:srgbClr val="EEF3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900" y="3777407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Dashboard: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Family support.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31774" y="4234607"/>
            <a:ext cx="9381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from home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829" y="228600"/>
            <a:ext cx="7456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Aging Minds: Our Cognitive-First Principles.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2150864"/>
            <a:ext cx="4267200" cy="668536"/>
          </a:xfrm>
          <a:prstGeom prst="roundRect">
            <a:avLst>
              <a:gd name="adj" fmla="val 11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30326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Cognitive-Friendly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520404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buttons, fewer choices, predictable screens. Zero overwhelm.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28600" y="2933700"/>
            <a:ext cx="4267200" cy="668536"/>
          </a:xfrm>
          <a:prstGeom prst="roundRect">
            <a:avLst>
              <a:gd name="adj" fmla="val 11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0861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Highlights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303240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They Can Actually Use. Plain-language updates in multiple languages.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8200" y="2150864"/>
            <a:ext cx="4267200" cy="668536"/>
          </a:xfrm>
          <a:prstGeom prst="roundRect">
            <a:avLst>
              <a:gd name="adj" fmla="val 11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230326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 Navigation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2520404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Talk, Don't Tap. Audio guidance helps seniors complete tasks with confidence.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200" y="2933700"/>
            <a:ext cx="4267200" cy="668536"/>
          </a:xfrm>
          <a:prstGeom prst="roundRect">
            <a:avLst>
              <a:gd name="adj" fmla="val 11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30861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Access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3303240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SMS options keep seniors connected without internet or smartphones.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897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50"/>
              </a:spcAft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one senior creates a ripple effect of community-wide benefits.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9334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200"/>
              </a:spcAft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"Civic participation is a 'weightlifting for the brain' that can delay dementia and reduce mortality risks." (Source: Nature)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426940"/>
            <a:ext cx="2085975" cy="143247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256029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3131790"/>
            <a:ext cx="185566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Healthcare Costs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1950" y="3459361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Mitigates loneliness and cognitive decline, linked to increased hospitalizations.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8875" y="2426940"/>
            <a:ext cx="2085975" cy="143247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2225" y="256029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2225" y="3131790"/>
            <a:ext cx="185566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Amplifies Excluded Voices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2225" y="3459361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civic participation accessible across cognitive, economic, and digital barriers.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29150" y="2426940"/>
            <a:ext cx="2085975" cy="143247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256029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3131790"/>
            <a:ext cx="185566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Strengthens Democracy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2500" y="3459361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cognitive impairment is not a barrier to being heard.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29425" y="2426940"/>
            <a:ext cx="2085975" cy="143247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62775" y="256029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62775" y="3131790"/>
            <a:ext cx="185566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Trust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62775" y="3459361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governments care about accessibility and inclusion.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402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2100" b="1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a market others misunderstand.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800100"/>
            <a:ext cx="86868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800100"/>
            <a:ext cx="8686800" cy="40764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198215"/>
            <a:ext cx="8686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914400"/>
            <a:ext cx="26245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58889" y="800100"/>
            <a:ext cx="1811089" cy="38859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57365" y="914400"/>
            <a:ext cx="16141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20854" y="914400"/>
            <a:ext cx="16141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Civic Apps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85159" y="914400"/>
            <a:ext cx="1530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In-Facility Software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631603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1343918"/>
            <a:ext cx="2624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Cognitive Decline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258889" y="1207740"/>
            <a:ext cx="1811089" cy="419100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9110" y="132204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32599" y="1322040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0" descr="/tmp/rasterized-gradient-5fd008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310" y="1322040"/>
            <a:ext cx="190500" cy="1905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28600" y="2060228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1000" y="1772543"/>
            <a:ext cx="2624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Kiosk Infrastructure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258889" y="1636365"/>
            <a:ext cx="1811089" cy="419100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069110" y="175066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32599" y="1750665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55310" y="1750665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228600" y="2488853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1000" y="2201168"/>
            <a:ext cx="2624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Learning Curve for Seniors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258889" y="2064990"/>
            <a:ext cx="1811089" cy="419100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069110" y="217929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32599" y="2179290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955310" y="2179290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81000" y="2629793"/>
            <a:ext cx="2624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Isolated 65+ Seniors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258889" y="2493615"/>
            <a:ext cx="1811089" cy="419100"/>
          </a:xfrm>
          <a:prstGeom prst="rect">
            <a:avLst/>
          </a:prstGeom>
          <a:solidFill>
            <a:srgbClr val="1A365D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69110" y="260791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032599" y="2607915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955310" y="2607915"/>
            <a:ext cx="190500" cy="190500"/>
          </a:xfrm>
          <a:prstGeom prst="roundRect">
            <a:avLst>
              <a:gd name="adj" fmla="val 480000"/>
            </a:avLst>
          </a:prstGeom>
          <a:noFill/>
          <a:ln w="19050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41732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 is the only platform designed to bridge independent seniors with cognitive barriers back into civic life.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5766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 model in a growing market.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798737"/>
            <a:ext cx="2819400" cy="773013"/>
          </a:xfrm>
          <a:prstGeom prst="roundRect">
            <a:avLst>
              <a:gd name="adj" fmla="val 9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913037"/>
            <a:ext cx="264261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of New Entrants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" y="2069157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234803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moat via 60K+ location access, proprietary UX, and municipal lock-in.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28600" y="2647950"/>
            <a:ext cx="2819400" cy="773013"/>
          </a:xfrm>
          <a:prstGeom prst="roundRect">
            <a:avLst>
              <a:gd name="adj" fmla="val 9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2762250"/>
            <a:ext cx="264261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Bargaining Power of Buyers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" y="2918371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42900" y="3084016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switching costs and lack of purpose-built alternatives drive retention.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000500" y="2324100"/>
            <a:ext cx="1143000" cy="57150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24635" y="2503140"/>
            <a:ext cx="7084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0" y="1798737"/>
            <a:ext cx="2819400" cy="773013"/>
          </a:xfrm>
          <a:prstGeom prst="roundRect">
            <a:avLst>
              <a:gd name="adj" fmla="val 9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0300" y="1913037"/>
            <a:ext cx="264261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Bargaining Power of Suppliers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0300" y="2069157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10300" y="2234803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hardware and commoditized cloud markets create favorable dynamics.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096000" y="2647950"/>
            <a:ext cx="2819400" cy="773013"/>
          </a:xfrm>
          <a:prstGeom prst="roundRect">
            <a:avLst>
              <a:gd name="adj" fmla="val 9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0300" y="2762250"/>
            <a:ext cx="264261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of Substitutes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0300" y="2918371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10300" y="3084016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(town halls, social media) fail to address cognitive barriers.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28600" y="4629150"/>
            <a:ext cx="86868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9456" y="47053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in the Senior Tech market, growing at 11.5% CAGR (2025-2035), but currently fragmented.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665" y="228600"/>
            <a:ext cx="6928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multi-stream revenue model for sustainable impact.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1812727"/>
            <a:ext cx="2768650" cy="1727597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1601" y="1965127"/>
            <a:ext cx="14511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Municipal Licensing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9780" y="2315617"/>
            <a:ext cx="15364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$5,000 - $25,000/yr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43930" y="2726978"/>
            <a:ext cx="344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city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56362" y="3121223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license the platform to enhance civic engagement and meet accessibility mandates.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87750" y="1812727"/>
            <a:ext cx="2768650" cy="1727597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005" y="1965127"/>
            <a:ext cx="18665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Institutional Subscriptions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66555" y="2315617"/>
            <a:ext cx="14391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$1,200 - $6,000/yr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00252" y="2726978"/>
            <a:ext cx="3505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site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15511" y="3121223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living facilities, libraries, and clinics subscribe to provide a valuable service.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46899" y="1812727"/>
            <a:ext cx="2768650" cy="1727597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71705" y="1965127"/>
            <a:ext cx="11412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&amp; Insights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30305" y="2315617"/>
            <a:ext cx="163372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$10,000 - $50,000/yr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71891" y="2726978"/>
            <a:ext cx="52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agency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274661" y="3121223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insights help governments and nonprofits improve services.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pilots funded by Civics Unplugged; convert to paid licensing after Year 1.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0788" y="1187946"/>
            <a:ext cx="5562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problem is not theoretical for us.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33097" y="1721346"/>
            <a:ext cx="647765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up in our homes and communities.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0614" y="2517130"/>
            <a:ext cx="411937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team member has direct, lived experience with older adults disengaged from civil life due to language barriers, digital exclusion, or social isolation."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684014" y="2517130"/>
            <a:ext cx="411937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families include immigrant, refugee, and historically marginalized elders whose voices are routinely absent from public decision-making."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71575" y="3498205"/>
            <a:ext cx="6800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"CivicNest is rooted in intergenerational responsibility — ensuring elders who helped build our communities are not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 of democracy."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917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purpose-built team with the right skills at the right time.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2021532"/>
            <a:ext cx="2819400" cy="788343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2135832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Operator: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342900" y="2274838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Pham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2900" y="2472928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clarity, and operational discipline from public policy and logistics.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28600" y="2886075"/>
            <a:ext cx="2819400" cy="788343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3000375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Builder: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42900" y="3139380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Josiah Hankerson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" y="3337471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rigor and execution discipline to turn ideas into structured systems.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162300" y="2021532"/>
            <a:ext cx="2819400" cy="788343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6600" y="2135832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Creative: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276600" y="2274838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Advay Shah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76600" y="2472928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ideas, systems thinking, and community impact from public health background.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162300" y="2886075"/>
            <a:ext cx="2819400" cy="788343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76600" y="3000375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Analyst: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276600" y="3139380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Allison Su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6600" y="3337471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complex data into actionable insights via quantitative finance expertise.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096000" y="2453729"/>
            <a:ext cx="2819400" cy="788343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0300" y="2568029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Connector: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210300" y="2707035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Anahita Poongundran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0300" y="2905125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Charisma, clarity, and mission-driven storytelling from policy advocacy work.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557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800"/>
              </a:spcAft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Pilot: Our 6-Month Roadmap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2127945"/>
            <a:ext cx="1310580" cy="506611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080" y="2242245"/>
            <a:ext cx="11036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&amp; MVP Roadmap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88640" y="286315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804" y="3263205"/>
            <a:ext cx="5345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Feb/March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59916" y="3562201"/>
            <a:ext cx="2527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675" dirty="0"/>
          </a:p>
        </p:txBody>
      </p:sp>
      <p:pic>
        <p:nvPicPr>
          <p:cNvPr id="8" name="Image 0" descr="/tmp/rasterized-gradient-30c4d4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380" y="2886075"/>
            <a:ext cx="381000" cy="381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72580" y="2127945"/>
            <a:ext cx="1310580" cy="506611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176061" y="2242245"/>
            <a:ext cx="11036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Testing &amp; MVP Refinement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2632621" y="286315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08511" y="3263205"/>
            <a:ext cx="2434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2649141" y="3562201"/>
            <a:ext cx="1604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675" dirty="0"/>
          </a:p>
        </p:txBody>
      </p:sp>
      <p:pic>
        <p:nvPicPr>
          <p:cNvPr id="14" name="Image 1" descr="/tmp/rasterized-gradient-f01e00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361" y="2886075"/>
            <a:ext cx="381000" cy="381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6561" y="2187922"/>
            <a:ext cx="1310580" cy="386655"/>
          </a:xfrm>
          <a:prstGeom prst="roundRect">
            <a:avLst>
              <a:gd name="adj" fmla="val 197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020041" y="2302222"/>
            <a:ext cx="1103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Digital Platform</a:t>
            </a:r>
            <a:endParaRPr lang="en-US" sz="675" dirty="0"/>
          </a:p>
        </p:txBody>
      </p:sp>
      <p:sp>
        <p:nvSpPr>
          <p:cNvPr id="17" name="Text 13"/>
          <p:cNvSpPr/>
          <p:nvPr/>
        </p:nvSpPr>
        <p:spPr>
          <a:xfrm>
            <a:off x="4476601" y="280317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469904" y="3203228"/>
            <a:ext cx="2079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414540" y="3502223"/>
            <a:ext cx="3209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675" dirty="0"/>
          </a:p>
        </p:txBody>
      </p:sp>
      <p:pic>
        <p:nvPicPr>
          <p:cNvPr id="20" name="Image 2" descr="/tmp/rasterized-gradient-3fb464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341" y="2886075"/>
            <a:ext cx="381000" cy="381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541" y="2127945"/>
            <a:ext cx="1310580" cy="506611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864022" y="2242245"/>
            <a:ext cx="11036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Distribution Plan</a:t>
            </a:r>
            <a:endParaRPr lang="en-US" sz="675" dirty="0"/>
          </a:p>
        </p:txBody>
      </p:sp>
      <p:sp>
        <p:nvSpPr>
          <p:cNvPr id="23" name="Text 18"/>
          <p:cNvSpPr/>
          <p:nvPr/>
        </p:nvSpPr>
        <p:spPr>
          <a:xfrm>
            <a:off x="6320582" y="286315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293495" y="3263205"/>
            <a:ext cx="2495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6268045" y="3562201"/>
            <a:ext cx="301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675" dirty="0"/>
          </a:p>
        </p:txBody>
      </p:sp>
      <p:pic>
        <p:nvPicPr>
          <p:cNvPr id="26" name="Image 3" descr="/tmp/rasterized-gradient-88682c7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322" y="2886075"/>
            <a:ext cx="381000" cy="381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04522" y="2127945"/>
            <a:ext cx="1310580" cy="506611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708002" y="2242245"/>
            <a:ext cx="11036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 &amp; Scalability Assessment</a:t>
            </a:r>
            <a:endParaRPr lang="en-US" sz="675" dirty="0"/>
          </a:p>
        </p:txBody>
      </p:sp>
      <p:sp>
        <p:nvSpPr>
          <p:cNvPr id="29" name="Text 23"/>
          <p:cNvSpPr/>
          <p:nvPr/>
        </p:nvSpPr>
        <p:spPr>
          <a:xfrm>
            <a:off x="8164562" y="286315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8154888" y="3263205"/>
            <a:ext cx="2138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825" dirty="0"/>
          </a:p>
        </p:txBody>
      </p:sp>
      <p:sp>
        <p:nvSpPr>
          <p:cNvPr id="31" name="Text 25"/>
          <p:cNvSpPr/>
          <p:nvPr/>
        </p:nvSpPr>
        <p:spPr>
          <a:xfrm>
            <a:off x="8119170" y="3562201"/>
            <a:ext cx="2869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575" y="601117"/>
            <a:ext cx="680085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b="1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a diagnosis into a new form of participation, ensuring that cognitive decline does not lead to social erasure, but to a transformed, inclusive community.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2406280" y="1938337"/>
            <a:ext cx="6348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37954" y="2467868"/>
            <a:ext cx="571500" cy="28575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92683" y="1938337"/>
            <a:ext cx="13994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63727" y="2467868"/>
            <a:ext cx="857250" cy="28575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8136" y="1938337"/>
            <a:ext cx="12050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35836" y="2467868"/>
            <a:ext cx="809625" cy="28575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53112" y="2953643"/>
            <a:ext cx="42376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civic access together.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15837" y="3707904"/>
            <a:ext cx="16120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RealCivicNest@gmail.com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3854" y="3707904"/>
            <a:ext cx="9376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(123)-456-7890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53185" y="4275534"/>
            <a:ext cx="266700" cy="266700"/>
          </a:xfrm>
          <a:prstGeom prst="roundRect">
            <a:avLst>
              <a:gd name="adj" fmla="val 342857"/>
            </a:avLst>
          </a:prstGeom>
          <a:noFill/>
          <a:ln w="19050">
            <a:solidFill>
              <a:srgbClr val="4299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/tmp/rasterized-svg-fc7ca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0335" y="4332684"/>
            <a:ext cx="152400" cy="152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39" y="4302175"/>
            <a:ext cx="7084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CivicNest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CivicNest - Reclaiming Every Voice</dc:title>
  <dc:subject>PptxGenJS Presentation</dc:subject>
  <dc:creator>CivicNest Team</dc:creator>
  <cp:lastModifiedBy>CivicNest Team</cp:lastModifiedBy>
  <cp:revision>1</cp:revision>
  <dcterms:created xsi:type="dcterms:W3CDTF">2026-01-05T00:16:06Z</dcterms:created>
  <dcterms:modified xsi:type="dcterms:W3CDTF">2026-01-05T00:16:06Z</dcterms:modified>
</cp:coreProperties>
</file>